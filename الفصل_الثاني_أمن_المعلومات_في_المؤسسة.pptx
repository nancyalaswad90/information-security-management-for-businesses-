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60" r:id="rId4"/>
    <p:sldId id="259" r:id="rId5"/>
    <p:sldId id="284" r:id="rId6"/>
    <p:sldId id="285" r:id="rId7"/>
    <p:sldId id="258" r:id="rId8"/>
    <p:sldId id="261" r:id="rId9"/>
    <p:sldId id="283" r:id="rId10"/>
    <p:sldId id="286" r:id="rId11"/>
    <p:sldId id="287" r:id="rId12"/>
    <p:sldId id="281" r:id="rId13"/>
    <p:sldId id="288" r:id="rId14"/>
    <p:sldId id="289" r:id="rId15"/>
    <p:sldId id="290" r:id="rId16"/>
    <p:sldId id="291" r:id="rId17"/>
    <p:sldId id="293" r:id="rId18"/>
    <p:sldId id="292" r:id="rId19"/>
    <p:sldId id="295" r:id="rId20"/>
    <p:sldId id="263" r:id="rId21"/>
    <p:sldId id="282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36" y="3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02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13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15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58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63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94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71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1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230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91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08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145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107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3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959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387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28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72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15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713206"/>
            <a:ext cx="6798734" cy="1303867"/>
          </a:xfrm>
        </p:spPr>
        <p:txBody>
          <a:bodyPr>
            <a:normAutofit fontScale="90000"/>
          </a:bodyPr>
          <a:lstStyle/>
          <a:p>
            <a:pPr rtl="1">
              <a:lnSpc>
                <a:spcPct val="150000"/>
              </a:lnSpc>
            </a:pPr>
            <a:r>
              <a:rPr lang="ar-JO" dirty="0"/>
              <a:t>أمن المعلومات في المؤسسة</a:t>
            </a:r>
            <a:br>
              <a:rPr lang="ar-JO" dirty="0"/>
            </a:br>
            <a:r>
              <a:rPr lang="ar-JO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الفصل الثاني</a:t>
            </a:r>
            <a:endParaRPr sz="27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8041" y="2223436"/>
            <a:ext cx="736332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endParaRPr lang="ar-JO" sz="2400" b="1" dirty="0"/>
          </a:p>
          <a:p>
            <a:pPr algn="r" rtl="1"/>
            <a:r>
              <a:rPr lang="ar-JO" sz="2400" b="1" dirty="0"/>
              <a:t>محاور الفصل : </a:t>
            </a:r>
          </a:p>
          <a:p>
            <a:pPr algn="r" rtl="1">
              <a:lnSpc>
                <a:spcPct val="200000"/>
              </a:lnSpc>
            </a:pPr>
            <a:r>
              <a:rPr lang="ar-JO" sz="2000" dirty="0"/>
              <a:t>⃣1   </a:t>
            </a:r>
            <a:r>
              <a:rPr lang="ar-JO" sz="2000" b="1" dirty="0"/>
              <a:t>التمهيد</a:t>
            </a:r>
            <a:br>
              <a:rPr lang="ar-JO" sz="2000" dirty="0"/>
            </a:br>
            <a:r>
              <a:rPr lang="ar-JO" sz="2000" dirty="0"/>
              <a:t>2️⃣    </a:t>
            </a:r>
            <a:r>
              <a:rPr lang="ar-JO" sz="2000" b="1" dirty="0"/>
              <a:t>المقصود بـ «أمن المعلومات»</a:t>
            </a:r>
            <a:br>
              <a:rPr lang="ar-JO" sz="2000" dirty="0"/>
            </a:br>
            <a:r>
              <a:rPr lang="ar-JO" sz="2000" dirty="0"/>
              <a:t>3️⃣    </a:t>
            </a:r>
            <a:r>
              <a:rPr lang="ar-JO" sz="2000" b="1" dirty="0"/>
              <a:t>أبعاد مفهوم أمن المعلومات</a:t>
            </a:r>
            <a:br>
              <a:rPr lang="ar-JO" sz="2000" dirty="0"/>
            </a:br>
            <a:r>
              <a:rPr lang="ar-JO" sz="2000" dirty="0"/>
              <a:t>4️⃣    </a:t>
            </a:r>
            <a:r>
              <a:rPr lang="ar-JO" sz="2000" b="1" dirty="0"/>
              <a:t>المجالات المستهدفة في أمن المعلومات</a:t>
            </a:r>
            <a:br>
              <a:rPr lang="ar-JO" sz="2000" dirty="0"/>
            </a:br>
            <a:r>
              <a:rPr lang="ar-JO" sz="2000" dirty="0"/>
              <a:t>5️⃣   </a:t>
            </a:r>
            <a:r>
              <a:rPr lang="ar-JO" sz="2000" b="1" dirty="0"/>
              <a:t>الفرق بين الأمن المادي وأمن المعلومات في المؤسسة</a:t>
            </a:r>
          </a:p>
          <a:p>
            <a:pPr algn="r" rtl="1">
              <a:lnSpc>
                <a:spcPct val="200000"/>
              </a:lnSpc>
            </a:pPr>
            <a:endParaRPr lang="ar-JO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754" y="838335"/>
            <a:ext cx="6798734" cy="1303867"/>
          </a:xfrm>
        </p:spPr>
        <p:txBody>
          <a:bodyPr/>
          <a:lstStyle/>
          <a:p>
            <a:r>
              <a:rPr lang="ar-JO" dirty="0"/>
              <a:t>أمن المعلومات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41" y="2569473"/>
            <a:ext cx="7680961" cy="3186435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ar-SA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يشمل حماية المعلومات من التداخل أو التعديل غير المصرح به، التدمير أو الضياع، والاستخدام غير المصرح به.</a:t>
            </a:r>
            <a:endParaRPr lang="ar-JO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r>
              <a:rPr lang="ar-JO" dirty="0"/>
              <a:t>حيث الهدف الرئيسي هو </a:t>
            </a:r>
            <a:r>
              <a:rPr lang="ar-JO" b="1" dirty="0"/>
              <a:t>ضمان بقاء المعلومات صحيحة، آمنة، ومتاحة</a:t>
            </a:r>
            <a:r>
              <a:rPr lang="ar-JO" dirty="0"/>
              <a:t> فقط لمن يملك صلاحية الوصول إليها.</a:t>
            </a:r>
            <a:endParaRPr lang="ar-JO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JO" dirty="0"/>
              <a:t>تعريفات عالمية لأمن المعلومات</a:t>
            </a:r>
            <a:br>
              <a:rPr lang="ar-JO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783" y="2490135"/>
            <a:ext cx="8409956" cy="3880685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en-US" sz="2200" b="1" dirty="0"/>
              <a:t>CPA Journal</a:t>
            </a:r>
            <a:r>
              <a:rPr lang="ar-JO" sz="2200" b="1" dirty="0"/>
              <a:t> </a:t>
            </a:r>
            <a:r>
              <a:rPr lang="ar-JO" b="1" dirty="0"/>
              <a:t>: </a:t>
            </a:r>
            <a:r>
              <a:rPr lang="ar-JO" sz="2000" dirty="0"/>
              <a:t>تُعرِّف أمن المعلومات بأنه ضمان توافر المعلومات وسلامتها وسريتها، بما يحقق حماية شاملة للبيانات داخل المؤسسة</a:t>
            </a:r>
            <a:r>
              <a:rPr lang="ar-JO" dirty="0"/>
              <a:t>.</a:t>
            </a:r>
          </a:p>
          <a:p>
            <a:pPr algn="r" rtl="1">
              <a:lnSpc>
                <a:spcPct val="150000"/>
              </a:lnSpc>
            </a:pPr>
            <a:r>
              <a:rPr lang="en-US" sz="2200" b="1" dirty="0"/>
              <a:t>U.S. Glossary</a:t>
            </a:r>
            <a:r>
              <a:rPr lang="ar-JO" sz="2200" b="1" dirty="0"/>
              <a:t> </a:t>
            </a:r>
            <a:r>
              <a:rPr lang="ar-JO" b="1" dirty="0"/>
              <a:t>: </a:t>
            </a:r>
            <a:r>
              <a:rPr lang="ar-JO" sz="2000" dirty="0"/>
              <a:t>يُعرَّف أمن المعلومات بأنه حماية نظم المعلومات من الاستخدام أو الوصول غير المصرح به بما يضمن الحفاظ على سلامة البيانات.</a:t>
            </a:r>
          </a:p>
          <a:p>
            <a:pPr algn="r" rtl="1">
              <a:lnSpc>
                <a:spcPct val="150000"/>
              </a:lnSpc>
            </a:pPr>
            <a:r>
              <a:rPr lang="ar-JO" sz="2200" b="1" dirty="0"/>
              <a:t>التعريف القانوني:  </a:t>
            </a:r>
            <a:r>
              <a:rPr lang="ar-JO" sz="2000" dirty="0"/>
              <a:t>يؤكد أن أمن المعلومات هو الالتزام بالقوانين والتشريعات المنظمة لحماية البيانات والمعلومات من أي إساءة استخدام أو اختراق.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أبعاد أمن المعلومات</a:t>
            </a:r>
          </a:p>
        </p:txBody>
      </p:sp>
      <p:pic>
        <p:nvPicPr>
          <p:cNvPr id="3076" name="Picture 4" descr="الدرس الأول : أمن وحماية المعلومات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12" y="2113612"/>
            <a:ext cx="8484433" cy="425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9745" y="1027705"/>
            <a:ext cx="819962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JO" sz="3200" b="1" dirty="0"/>
              <a:t>أبعاد أمن المعلومات</a:t>
            </a:r>
            <a:endParaRPr lang="en-US" sz="3200" b="1" dirty="0"/>
          </a:p>
          <a:p>
            <a:pPr algn="r" rtl="1"/>
            <a:r>
              <a:rPr lang="en-US" sz="3200" b="1" dirty="0"/>
              <a:t>==========</a:t>
            </a:r>
            <a:endParaRPr lang="ar-JO" sz="3200" b="1" dirty="0"/>
          </a:p>
          <a:p>
            <a:pPr algn="r" rtl="1">
              <a:lnSpc>
                <a:spcPct val="200000"/>
              </a:lnSpc>
            </a:pPr>
            <a:r>
              <a:rPr lang="ar-JO" sz="2000" dirty="0"/>
              <a:t>يشرح هذا القسم الأركان الأساسية التي يقوم عليها أمن المعلومات، وهي:</a:t>
            </a:r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000" b="1" dirty="0"/>
              <a:t>السرية  </a:t>
            </a:r>
            <a:r>
              <a:rPr lang="en-US" sz="2000" b="1" dirty="0"/>
              <a:t>Confidentiality</a:t>
            </a:r>
            <a:r>
              <a:rPr lang="ar-JO" sz="2000" b="1" dirty="0"/>
              <a:t>  </a:t>
            </a:r>
            <a:r>
              <a:rPr lang="ar-JO" sz="2000" dirty="0"/>
              <a:t>حماية البيانات من الوصول غير المصرح به.</a:t>
            </a:r>
            <a:endParaRPr lang="en-US" sz="2000" dirty="0"/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000" b="1" dirty="0"/>
              <a:t>السلامة  </a:t>
            </a:r>
            <a:r>
              <a:rPr lang="en-US" sz="2000" b="1" dirty="0"/>
              <a:t>Integrity </a:t>
            </a:r>
            <a:r>
              <a:rPr lang="ar-JO" sz="2000" b="1" dirty="0"/>
              <a:t>   </a:t>
            </a:r>
            <a:r>
              <a:rPr lang="en-US" sz="2000" b="1" dirty="0"/>
              <a:t> </a:t>
            </a:r>
            <a:r>
              <a:rPr lang="ar-JO" sz="2000" dirty="0"/>
              <a:t>التأكد من أن المعلومات لم تُعدّل أو تُفسد.</a:t>
            </a:r>
            <a:endParaRPr lang="en-US" sz="2000" dirty="0"/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000" b="1" dirty="0"/>
              <a:t>التوافر  </a:t>
            </a:r>
            <a:r>
              <a:rPr lang="en-US" sz="2000" b="1" dirty="0"/>
              <a:t>Availability</a:t>
            </a:r>
            <a:r>
              <a:rPr lang="ar-JO" sz="2000" b="1" dirty="0"/>
              <a:t>  </a:t>
            </a:r>
            <a:r>
              <a:rPr lang="ar-JO" sz="2000" dirty="0"/>
              <a:t>ضمان أن الأنظمة والبيانات متاحة دائمًا عند الحاجة إليها.</a:t>
            </a:r>
            <a:endParaRPr lang="en-US" sz="2000" dirty="0"/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000" b="1" dirty="0"/>
              <a:t>المسؤولية  </a:t>
            </a:r>
            <a:r>
              <a:rPr lang="en-US" sz="2000" b="1" dirty="0"/>
              <a:t>  Accountability</a:t>
            </a:r>
            <a:r>
              <a:rPr lang="ar-JO" sz="2000" dirty="0"/>
              <a:t>تحديد من يقوم بأي إجراء على النظام.</a:t>
            </a:r>
            <a:endParaRPr lang="en-US" sz="2000" dirty="0"/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000" b="1" dirty="0"/>
              <a:t>قابلية التدقيق  </a:t>
            </a:r>
            <a:r>
              <a:rPr lang="en-US" sz="2000" b="1" dirty="0"/>
              <a:t>Auditability  </a:t>
            </a:r>
            <a:r>
              <a:rPr lang="ar-JO" sz="2000" b="1" dirty="0"/>
              <a:t> </a:t>
            </a:r>
            <a:r>
              <a:rPr lang="ar-JO" sz="2000" dirty="0"/>
              <a:t>إمكانية تتبع الأنشطة والتحقق من الامتثال للسياسات الأمنية.</a:t>
            </a:r>
          </a:p>
        </p:txBody>
      </p:sp>
    </p:spTree>
    <p:extLst>
      <p:ext uri="{BB962C8B-B14F-4D97-AF65-F5344CB8AC3E}">
        <p14:creationId xmlns:p14="http://schemas.microsoft.com/office/powerpoint/2010/main" val="299409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616" y="870549"/>
            <a:ext cx="783985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ar-JO" sz="3200" b="1" dirty="0"/>
              <a:t>المجالات المستهدفة في أمن المعلومات</a:t>
            </a:r>
          </a:p>
          <a:p>
            <a:pPr algn="r" rtl="1">
              <a:lnSpc>
                <a:spcPct val="150000"/>
              </a:lnSpc>
            </a:pPr>
            <a:r>
              <a:rPr lang="en-US" sz="3200" b="1" dirty="0"/>
              <a:t>==========</a:t>
            </a:r>
            <a:endParaRPr lang="ar-JO" sz="3200" b="1" dirty="0"/>
          </a:p>
          <a:p>
            <a:pPr algn="r" rtl="1">
              <a:lnSpc>
                <a:spcPct val="200000"/>
              </a:lnSpc>
            </a:pPr>
            <a:r>
              <a:rPr lang="ar-JO" sz="2000" dirty="0"/>
              <a:t>يركّز هذا الجزء على </a:t>
            </a:r>
            <a:r>
              <a:rPr lang="ar-JO" sz="2000" b="1" dirty="0"/>
              <a:t>البيانات التي تحتاج إلى حماية خاصة</a:t>
            </a:r>
            <a:r>
              <a:rPr lang="ar-JO" sz="2000" dirty="0"/>
              <a:t>، ومنها:</a:t>
            </a:r>
          </a:p>
          <a:p>
            <a:pPr marL="342900" indent="-34290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JO" sz="2000" b="1" dirty="0"/>
              <a:t>جرائم الإنترنت  </a:t>
            </a:r>
            <a:r>
              <a:rPr lang="en-US" sz="2000" b="1" dirty="0"/>
              <a:t>Cyber Crimes</a:t>
            </a:r>
            <a:r>
              <a:rPr lang="ar-JO" sz="2000" b="1" dirty="0"/>
              <a:t> </a:t>
            </a:r>
            <a:r>
              <a:rPr lang="ar-JO" sz="2000" dirty="0"/>
              <a:t>  مثل الاختراق والاحتيال الإلكتروني.</a:t>
            </a:r>
          </a:p>
          <a:p>
            <a:pPr marL="342900" indent="-34290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JO" sz="2000" b="1" dirty="0"/>
              <a:t>حماية البنية التحتية الحرجة:</a:t>
            </a:r>
            <a:r>
              <a:rPr lang="ar-JO" sz="2000" dirty="0"/>
              <a:t> كأنظمة الكهرباء والمياه والاتصالات.</a:t>
            </a:r>
          </a:p>
          <a:p>
            <a:pPr marL="342900" indent="-34290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JO" sz="2000" b="1" dirty="0"/>
              <a:t>الدفاع العسكري الإلكتروني:</a:t>
            </a:r>
            <a:r>
              <a:rPr lang="ar-JO" sz="2000" dirty="0"/>
              <a:t> لحماية أنظمة الدفاع من الهجمات.</a:t>
            </a:r>
          </a:p>
          <a:p>
            <a:pPr marL="342900" indent="-34290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JO" sz="2000" b="1" dirty="0"/>
              <a:t>الاستخبارات:</a:t>
            </a:r>
            <a:r>
              <a:rPr lang="ar-JO" sz="2000" dirty="0"/>
              <a:t> لتأمين البيانات الحساسة الخاصة بالأمن القومي.</a:t>
            </a:r>
          </a:p>
        </p:txBody>
      </p:sp>
    </p:spTree>
    <p:extLst>
      <p:ext uri="{BB962C8B-B14F-4D97-AF65-F5344CB8AC3E}">
        <p14:creationId xmlns:p14="http://schemas.microsoft.com/office/powerpoint/2010/main" val="916596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ar-JO" dirty="0"/>
              <a:t>أهداف أمن المعلومات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7286" y="2758190"/>
            <a:ext cx="4482060" cy="3267856"/>
          </a:xfrm>
        </p:spPr>
        <p:txBody>
          <a:bodyPr>
            <a:normAutofit/>
          </a:bodyPr>
          <a:lstStyle/>
          <a:p>
            <a:pPr algn="r" rtl="1">
              <a:lnSpc>
                <a:spcPct val="200000"/>
              </a:lnSpc>
            </a:pPr>
            <a:r>
              <a:rPr lang="ar-JO" dirty="0"/>
              <a:t>حماية البيانات من الوصول غير المصرّح.</a:t>
            </a:r>
          </a:p>
          <a:p>
            <a:pPr algn="r" rtl="1">
              <a:lnSpc>
                <a:spcPct val="200000"/>
              </a:lnSpc>
            </a:pPr>
            <a:r>
              <a:rPr lang="ar-JO" dirty="0"/>
              <a:t>ضمان الدقة والسلامة.</a:t>
            </a:r>
          </a:p>
          <a:p>
            <a:pPr algn="r" rtl="1">
              <a:lnSpc>
                <a:spcPct val="200000"/>
              </a:lnSpc>
            </a:pPr>
            <a:r>
              <a:rPr lang="ar-JO" dirty="0"/>
              <a:t>التأكد من توفر المعلومات عند الحاجة.</a:t>
            </a:r>
            <a:endParaRPr dirty="0"/>
          </a:p>
        </p:txBody>
      </p:sp>
      <p:pic>
        <p:nvPicPr>
          <p:cNvPr id="2052" name="Picture 4" descr="بوابة المصادر المفتوحة: الاهداف الرئيسية لأمن المعلومات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9" r="17820" b="4051"/>
          <a:stretch/>
        </p:blipFill>
        <p:spPr bwMode="auto">
          <a:xfrm>
            <a:off x="648995" y="2378892"/>
            <a:ext cx="3162926" cy="385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ar-JO" dirty="0"/>
            </a:br>
            <a:r>
              <a:rPr lang="ar-JO" b="1" dirty="0"/>
              <a:t>الفرق بين الأمن المادي وأمن المعلومات</a:t>
            </a:r>
            <a:br>
              <a:rPr lang="ar-JO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645" y="2353457"/>
            <a:ext cx="8154650" cy="4107304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ar-JO" dirty="0"/>
              <a:t>يُبرز هذا القسم أن:</a:t>
            </a:r>
          </a:p>
          <a:p>
            <a:pPr algn="r" rtl="1">
              <a:lnSpc>
                <a:spcPct val="150000"/>
              </a:lnSpc>
            </a:pPr>
            <a:r>
              <a:rPr lang="ar-JO" b="1" dirty="0"/>
              <a:t>الأمن المادي</a:t>
            </a:r>
            <a:r>
              <a:rPr lang="ar-JO" dirty="0"/>
              <a:t> يهتم بحماية الأفراد والمباني من التهديدات الفيزيائية (كالحرائق أو السرقة).</a:t>
            </a:r>
          </a:p>
          <a:p>
            <a:pPr algn="r" rtl="1">
              <a:lnSpc>
                <a:spcPct val="150000"/>
              </a:lnSpc>
            </a:pPr>
            <a:r>
              <a:rPr lang="ar-JO" b="1" dirty="0"/>
              <a:t>أمن المعلومات</a:t>
            </a:r>
            <a:r>
              <a:rPr lang="ar-JO" dirty="0"/>
              <a:t> يهتم بحماية </a:t>
            </a:r>
            <a:r>
              <a:rPr lang="ar-JO" b="1" dirty="0"/>
              <a:t>البيانات الرقمية والمعلوماتية</a:t>
            </a:r>
            <a:r>
              <a:rPr lang="ar-JO" dirty="0"/>
              <a:t> من التهديدات </a:t>
            </a:r>
            <a:r>
              <a:rPr lang="ar-JO" dirty="0" err="1"/>
              <a:t>السيبرانية</a:t>
            </a:r>
            <a:r>
              <a:rPr lang="ar-JO" dirty="0"/>
              <a:t> (كالفيروسات والاختراق).</a:t>
            </a:r>
            <a:br>
              <a:rPr lang="ar-JO" dirty="0"/>
            </a:br>
            <a:r>
              <a:rPr lang="ar-JO" dirty="0"/>
              <a:t>وهما متكاملان، لأن حماية الأجهزة والمباني تدعم حماية البيانات أيضًا.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1229193"/>
            <a:ext cx="6798734" cy="990011"/>
          </a:xfrm>
        </p:spPr>
        <p:txBody>
          <a:bodyPr>
            <a:normAutofit fontScale="90000"/>
          </a:bodyPr>
          <a:lstStyle/>
          <a:p>
            <a:r>
              <a:rPr lang="ar-JO" b="1" dirty="0"/>
              <a:t>أهمية إدارة أمن المعلومات</a:t>
            </a:r>
            <a:br>
              <a:rPr lang="ar-JO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586" y="2428408"/>
            <a:ext cx="7809875" cy="3897442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ar-JO" dirty="0"/>
              <a:t>يوضّح هذا العنوان لماذا تحتاج المؤسسات إلى إدارة فعّالة لأمن المعلومات، وتشمل الأسباب:</a:t>
            </a:r>
          </a:p>
          <a:p>
            <a:pPr lvl="1" algn="r" rtl="1">
              <a:lnSpc>
                <a:spcPct val="200000"/>
              </a:lnSpc>
            </a:pPr>
            <a:r>
              <a:rPr lang="ar-JO" sz="2400" dirty="0"/>
              <a:t>منع فقدان البيانات أو تسريبها.</a:t>
            </a:r>
          </a:p>
          <a:p>
            <a:pPr lvl="1" algn="r" rtl="1">
              <a:lnSpc>
                <a:spcPct val="200000"/>
              </a:lnSpc>
            </a:pPr>
            <a:r>
              <a:rPr lang="ar-JO" sz="2400" dirty="0"/>
              <a:t>تعزيز الثقة بين المؤسسة والعملاء أو الشركاء.</a:t>
            </a:r>
          </a:p>
          <a:p>
            <a:pPr lvl="1" algn="r" rtl="1">
              <a:lnSpc>
                <a:spcPct val="200000"/>
              </a:lnSpc>
            </a:pPr>
            <a:r>
              <a:rPr lang="ar-JO" sz="2400" dirty="0"/>
              <a:t>وضع استراتيجيات وخطط أمنية واضحة لمواجهة أي تهديدات مستقبلية.</a:t>
            </a:r>
          </a:p>
          <a:p>
            <a:pPr algn="r" rtl="1">
              <a:lnSpc>
                <a:spcPct val="150000"/>
              </a:lnSpc>
            </a:pPr>
            <a:endParaRPr dirty="0" err="1"/>
          </a:p>
        </p:txBody>
      </p:sp>
    </p:spTree>
    <p:extLst>
      <p:ext uri="{BB962C8B-B14F-4D97-AF65-F5344CB8AC3E}">
        <p14:creationId xmlns:p14="http://schemas.microsoft.com/office/powerpoint/2010/main" val="153135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4636" y="798626"/>
            <a:ext cx="804971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JO" sz="28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سياسات أمن المعلومات </a:t>
            </a:r>
            <a:r>
              <a:rPr lang="en-US" sz="28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Information Security Policies</a:t>
            </a:r>
            <a:r>
              <a:rPr lang="ar-JO" sz="28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algn="r" rtl="1">
              <a:lnSpc>
                <a:spcPct val="150000"/>
              </a:lnSpc>
            </a:pPr>
            <a:r>
              <a:rPr lang="ar-JO" sz="20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========================================</a:t>
            </a:r>
          </a:p>
          <a:p>
            <a:pPr algn="r" rtl="1"/>
            <a:endParaRPr lang="ar-JO" sz="2000" b="1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  <a:p>
            <a:pPr algn="r" rtl="1">
              <a:lnSpc>
                <a:spcPct val="150000"/>
              </a:lnSpc>
            </a:pPr>
            <a:r>
              <a:rPr lang="ar-JO" sz="2000" dirty="0"/>
              <a:t>يتناول هذا الجزء أهمية وجود </a:t>
            </a:r>
            <a:r>
              <a:rPr lang="ar-JO" sz="2000" b="1" dirty="0"/>
              <a:t>سياسات رسمية</a:t>
            </a:r>
            <a:r>
              <a:rPr lang="ar-JO" sz="2000" dirty="0"/>
              <a:t> تحدد كيفية حماية المعلومات داخل المؤسسة.</a:t>
            </a:r>
            <a:br>
              <a:rPr lang="ar-JO" sz="2000" dirty="0"/>
            </a:br>
            <a:r>
              <a:rPr lang="ar-JO" sz="2000" dirty="0"/>
              <a:t>تشمل هذه السياسات تحديد:</a:t>
            </a:r>
          </a:p>
          <a:p>
            <a:pPr marL="342900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100" dirty="0"/>
              <a:t>من يحق له الوصول إلى البيانات.</a:t>
            </a:r>
          </a:p>
          <a:p>
            <a:pPr marL="342900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100" dirty="0"/>
              <a:t>كيف يتم تخزينها ونقلها.</a:t>
            </a:r>
          </a:p>
          <a:p>
            <a:pPr marL="342900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100" dirty="0"/>
              <a:t>الإجراءات الواجب اتباعها عند حدوث خرق أمني.</a:t>
            </a:r>
            <a:br>
              <a:rPr lang="ar-JO" sz="2100" dirty="0"/>
            </a:br>
            <a:r>
              <a:rPr lang="ar-JO" sz="2100" dirty="0"/>
              <a:t>الهدف منها هو توحيد السلوك الأمني لجميع الموظفين ومنع الأخطاء البشرية.</a:t>
            </a:r>
          </a:p>
        </p:txBody>
      </p:sp>
    </p:spTree>
    <p:extLst>
      <p:ext uri="{BB962C8B-B14F-4D97-AF65-F5344CB8AC3E}">
        <p14:creationId xmlns:p14="http://schemas.microsoft.com/office/powerpoint/2010/main" val="2603805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9411" y="899332"/>
            <a:ext cx="7270228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ar-JO" sz="28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إجراءات أمن المعلومات </a:t>
            </a:r>
            <a:r>
              <a:rPr lang="en-US" sz="28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Security Procedures</a:t>
            </a:r>
            <a:endParaRPr lang="ar-JO" sz="2800" b="1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r" rtl="1">
              <a:lnSpc>
                <a:spcPct val="150000"/>
              </a:lnSpc>
            </a:pPr>
            <a:r>
              <a:rPr lang="ar-JO" sz="16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=================================================</a:t>
            </a:r>
          </a:p>
          <a:p>
            <a:pPr algn="r" rtl="1">
              <a:lnSpc>
                <a:spcPct val="200000"/>
              </a:lnSpc>
            </a:pPr>
            <a:r>
              <a:rPr lang="ar-JO" sz="2000" dirty="0"/>
              <a:t>تُعتبر الإجراءات التطبيق العملي للسياسات، فهي توضّح </a:t>
            </a:r>
            <a:r>
              <a:rPr lang="ar-JO" sz="2000" b="1" dirty="0"/>
              <a:t>الخطوات الفعلية</a:t>
            </a:r>
            <a:r>
              <a:rPr lang="ar-JO" sz="2000" dirty="0"/>
              <a:t> لتنفيذ القواعد الأمنية مثل:</a:t>
            </a:r>
          </a:p>
          <a:p>
            <a:pPr marL="800100" lvl="1" indent="-342900" algn="r" rt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ar-JO" sz="2000" b="1" dirty="0"/>
              <a:t>كيفية إعداد كلمات مرور قوية.</a:t>
            </a:r>
          </a:p>
          <a:p>
            <a:pPr marL="800100" lvl="1" indent="-342900" algn="r" rt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ar-JO" sz="2000" b="1" dirty="0"/>
              <a:t>طريقة تشفير الملفات الحساسة.</a:t>
            </a:r>
          </a:p>
          <a:p>
            <a:pPr marL="800100" lvl="1" indent="-342900" algn="r" rt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ar-JO" sz="2000" b="1" dirty="0"/>
              <a:t>آليات النسخ الاحتياطي للبيانات.</a:t>
            </a:r>
          </a:p>
          <a:p>
            <a:pPr marL="0" lvl="1" algn="r" rtl="1">
              <a:lnSpc>
                <a:spcPct val="200000"/>
              </a:lnSpc>
            </a:pPr>
            <a:r>
              <a:rPr lang="ar-JO" sz="2000" dirty="0"/>
              <a:t>وهي تضمن تنفيذ السياسات بطريقة منظمة ومتسقة</a:t>
            </a:r>
          </a:p>
        </p:txBody>
      </p:sp>
    </p:spTree>
    <p:extLst>
      <p:ext uri="{BB962C8B-B14F-4D97-AF65-F5344CB8AC3E}">
        <p14:creationId xmlns:p14="http://schemas.microsoft.com/office/powerpoint/2010/main" val="3512265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599607" y="907145"/>
            <a:ext cx="8049717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ar-JO" sz="28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مسؤوليات العاملين في أمن المعلومات</a:t>
            </a:r>
          </a:p>
          <a:p>
            <a:pPr algn="r" rtl="1">
              <a:lnSpc>
                <a:spcPct val="200000"/>
              </a:lnSpc>
            </a:pPr>
            <a:r>
              <a:rPr lang="ar-JO" sz="2000" b="1" dirty="0"/>
              <a:t>===========================</a:t>
            </a:r>
          </a:p>
          <a:p>
            <a:pPr algn="r" rtl="1">
              <a:lnSpc>
                <a:spcPct val="200000"/>
              </a:lnSpc>
            </a:pPr>
            <a:r>
              <a:rPr lang="ar-JO" sz="2000" dirty="0"/>
              <a:t>يشرح هذا القسم أن </a:t>
            </a:r>
            <a:r>
              <a:rPr lang="ar-JO" sz="2000" b="1" dirty="0"/>
              <a:t>كل موظف له دور في الحفاظ على الأمن</a:t>
            </a:r>
            <a:r>
              <a:rPr lang="ar-JO" sz="2000" dirty="0"/>
              <a:t>، وليس فقط قسم تكنولوجيا المعلومات.</a:t>
            </a:r>
            <a:br>
              <a:rPr lang="ar-JO" sz="2000" dirty="0"/>
            </a:br>
            <a:r>
              <a:rPr lang="ar-JO" sz="2000" dirty="0"/>
              <a:t>المسؤوليات تشمل:</a:t>
            </a:r>
          </a:p>
          <a:p>
            <a:pPr marL="800100" lvl="1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JO" sz="2200" dirty="0"/>
              <a:t>وعي المستخدمين بمخاطر البريد الاحتيالي والهجمات الاجتماعية.</a:t>
            </a:r>
          </a:p>
          <a:p>
            <a:pPr marL="800100" lvl="1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JO" sz="2200" dirty="0"/>
              <a:t>الإبلاغ عن أي نشاط مريب فورًا.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ar-JO" sz="2200" dirty="0"/>
              <a:t>الالتزام بالإجراءات والسياسات الأمنية.</a:t>
            </a:r>
            <a:br>
              <a:rPr lang="ar-JO" sz="2000" dirty="0"/>
            </a:br>
            <a:endParaRPr lang="ar-JO" sz="2000" dirty="0"/>
          </a:p>
          <a:p>
            <a:pPr marL="0" lvl="1" algn="r" rtl="1">
              <a:lnSpc>
                <a:spcPct val="200000"/>
              </a:lnSpc>
            </a:pPr>
            <a:r>
              <a:rPr lang="ar-JO" sz="2000" b="1" dirty="0"/>
              <a:t>     وهذا يعزّز ثقافة الأمن داخل المؤسسة.</a:t>
            </a:r>
          </a:p>
          <a:p>
            <a:pPr marL="0" lvl="1" algn="r" rtl="1">
              <a:lnSpc>
                <a:spcPct val="200000"/>
              </a:lnSpc>
            </a:pPr>
            <a:endParaRPr lang="ar-JO" sz="2000" dirty="0"/>
          </a:p>
        </p:txBody>
      </p:sp>
    </p:spTree>
    <p:extLst>
      <p:ext uri="{BB962C8B-B14F-4D97-AF65-F5344CB8AC3E}">
        <p14:creationId xmlns:p14="http://schemas.microsoft.com/office/powerpoint/2010/main" val="3149942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4677" y="393892"/>
            <a:ext cx="7704944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ar-JO" sz="28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إدارة المخاطر في أمن المعلومات </a:t>
            </a:r>
            <a:r>
              <a:rPr lang="en-US" sz="28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Risk Management</a:t>
            </a:r>
            <a:r>
              <a:rPr lang="ar-JO" sz="28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pPr algn="r" rtl="1">
              <a:lnSpc>
                <a:spcPct val="200000"/>
              </a:lnSpc>
            </a:pPr>
            <a:r>
              <a:rPr lang="ar-JO" b="1" dirty="0"/>
              <a:t>=================================================</a:t>
            </a:r>
            <a:endParaRPr lang="en-US" b="1" dirty="0"/>
          </a:p>
          <a:p>
            <a:pPr algn="r" rtl="1">
              <a:lnSpc>
                <a:spcPct val="200000"/>
              </a:lnSpc>
            </a:pPr>
            <a:r>
              <a:rPr lang="ar-JO" dirty="0"/>
              <a:t>يركّز هذا الجزء على </a:t>
            </a:r>
            <a:r>
              <a:rPr lang="ar-JO" b="1" dirty="0"/>
              <a:t>تحديد التهديدات المحتملة</a:t>
            </a:r>
            <a:r>
              <a:rPr lang="ar-JO" dirty="0"/>
              <a:t> وتحليلها لتقليل آثارها، العملية تتضمن:</a:t>
            </a:r>
          </a:p>
          <a:p>
            <a:pPr lvl="2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200" dirty="0"/>
              <a:t>تحديد الأصول المهمة (كالبيانات والأنظمة).</a:t>
            </a:r>
          </a:p>
          <a:p>
            <a:pPr lvl="2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200" dirty="0"/>
              <a:t>تحديد التهديدات ونقاط الضعف.</a:t>
            </a:r>
          </a:p>
          <a:p>
            <a:pPr lvl="2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200" dirty="0"/>
              <a:t>تقييم درجة الخطورة.</a:t>
            </a:r>
          </a:p>
          <a:p>
            <a:pPr lvl="2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200" dirty="0"/>
              <a:t>وضع خطط استجابة لتخفيف المخاطر.</a:t>
            </a:r>
          </a:p>
          <a:p>
            <a:pPr lvl="2" algn="r" rtl="1"/>
            <a:endParaRPr lang="ar-JO" dirty="0"/>
          </a:p>
          <a:p>
            <a:pPr marL="0" lvl="2" algn="r" rtl="1">
              <a:lnSpc>
                <a:spcPct val="200000"/>
              </a:lnSpc>
            </a:pPr>
            <a:r>
              <a:rPr lang="ar-JO" sz="1900" b="1" dirty="0"/>
              <a:t>الغاية هي تحقيق توازن بين تكلفة الحماية ومستوى الأمان المطلوب.</a:t>
            </a:r>
          </a:p>
          <a:p>
            <a:pPr marL="0" lvl="2" algn="r" rtl="1">
              <a:lnSpc>
                <a:spcPct val="200000"/>
              </a:lnSpc>
            </a:pPr>
            <a:endParaRPr lang="ar-JO" dirty="0"/>
          </a:p>
        </p:txBody>
      </p:sp>
    </p:spTree>
    <p:extLst>
      <p:ext uri="{BB962C8B-B14F-4D97-AF65-F5344CB8AC3E}">
        <p14:creationId xmlns:p14="http://schemas.microsoft.com/office/powerpoint/2010/main" val="1364601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9470" y="925724"/>
            <a:ext cx="739015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ar-JO" sz="2400" b="1" dirty="0"/>
              <a:t>التوعية والتدريب الأمني </a:t>
            </a:r>
            <a:r>
              <a:rPr lang="en-US" sz="26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Security Awareness and Training</a:t>
            </a:r>
            <a:r>
              <a:rPr lang="ar-JO" sz="26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pPr algn="r" rtl="1">
              <a:lnSpc>
                <a:spcPct val="200000"/>
              </a:lnSpc>
            </a:pPr>
            <a:r>
              <a:rPr lang="ar-JO" sz="2400" b="1" dirty="0"/>
              <a:t>======================================</a:t>
            </a:r>
            <a:endParaRPr lang="en-US" sz="2400" b="1" dirty="0"/>
          </a:p>
          <a:p>
            <a:pPr algn="r" rtl="1">
              <a:lnSpc>
                <a:spcPct val="200000"/>
              </a:lnSpc>
            </a:pPr>
            <a:r>
              <a:rPr lang="ar-JO" sz="2000" dirty="0"/>
              <a:t>يتحدث عن ضرورة تدريب الموظفين على:</a:t>
            </a:r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200" dirty="0"/>
              <a:t>كيفية </a:t>
            </a:r>
            <a:r>
              <a:rPr lang="ar-JO" sz="2200" b="1" dirty="0"/>
              <a:t>اكتشاف</a:t>
            </a:r>
            <a:r>
              <a:rPr lang="ar-JO" sz="2200" dirty="0"/>
              <a:t> محاولات الاحتيال أو الاختراق.</a:t>
            </a:r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200" dirty="0"/>
              <a:t>أهمية حماية كلمات المرور.</a:t>
            </a:r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200" dirty="0"/>
              <a:t>تجنّب مشاركة المعلومات الحساسة.</a:t>
            </a:r>
            <a:br>
              <a:rPr lang="ar-JO" sz="2000" dirty="0"/>
            </a:br>
            <a:r>
              <a:rPr lang="ar-JO" sz="1900" b="1" dirty="0"/>
              <a:t>فالموظف الواعي يُعتبر خط الدفاع الأول ضد الهجمات </a:t>
            </a:r>
            <a:r>
              <a:rPr lang="ar-JO" sz="1900" b="1" dirty="0" err="1"/>
              <a:t>السيبرانية</a:t>
            </a:r>
            <a:r>
              <a:rPr lang="ar-JO" sz="1900" b="1" dirty="0"/>
              <a:t>.</a:t>
            </a:r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endParaRPr lang="ar-JO" sz="2000" dirty="0"/>
          </a:p>
        </p:txBody>
      </p:sp>
    </p:spTree>
    <p:extLst>
      <p:ext uri="{BB962C8B-B14F-4D97-AF65-F5344CB8AC3E}">
        <p14:creationId xmlns:p14="http://schemas.microsoft.com/office/powerpoint/2010/main" val="641203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955703"/>
            <a:ext cx="757003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ar-JO" sz="2800" b="1" dirty="0"/>
              <a:t>تقييم نظم أمن المعلومات </a:t>
            </a:r>
            <a:r>
              <a:rPr lang="en-US" sz="2800" b="1" dirty="0"/>
              <a:t>Security Evaluation</a:t>
            </a:r>
            <a:r>
              <a:rPr lang="ar-JO" sz="2800" b="1" dirty="0"/>
              <a:t> </a:t>
            </a:r>
          </a:p>
          <a:p>
            <a:pPr algn="r" rtl="1">
              <a:lnSpc>
                <a:spcPct val="200000"/>
              </a:lnSpc>
            </a:pPr>
            <a:r>
              <a:rPr lang="ar-JO" sz="2800" b="1" dirty="0"/>
              <a:t>==============================</a:t>
            </a:r>
            <a:endParaRPr lang="en-US" sz="2800" b="1" dirty="0"/>
          </a:p>
          <a:p>
            <a:pPr algn="r" rtl="1">
              <a:lnSpc>
                <a:spcPct val="200000"/>
              </a:lnSpc>
            </a:pPr>
            <a:r>
              <a:rPr lang="ar-JO" sz="2000" dirty="0"/>
              <a:t>يتناول كيفية </a:t>
            </a:r>
            <a:r>
              <a:rPr lang="ar-JO" sz="2000" b="1" dirty="0"/>
              <a:t>اختبار فعالية النظام الأمني</a:t>
            </a:r>
            <a:r>
              <a:rPr lang="ar-JO" sz="2000" dirty="0"/>
              <a:t> من خلال: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200" dirty="0"/>
              <a:t>التدقيق الأمني الداخلي والخارجي.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200" dirty="0"/>
              <a:t>محاكاة الهجمات لاختبار نقاط الضعف (اختبارات الاختراق).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200" dirty="0"/>
              <a:t>مراجعة سياسات الحماية بشكل دوري.</a:t>
            </a:r>
            <a:br>
              <a:rPr lang="ar-JO" sz="2000" dirty="0"/>
            </a:br>
            <a:r>
              <a:rPr lang="ar-JO" sz="2000" dirty="0"/>
              <a:t>الهدف هو ضمان أن </a:t>
            </a:r>
            <a:r>
              <a:rPr lang="ar-JO" sz="2000" b="1" dirty="0"/>
              <a:t>النظام الأمني يواكب التطورات والتحديات الجديدة</a:t>
            </a:r>
            <a:r>
              <a:rPr lang="ar-JO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2504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9430" y="566597"/>
            <a:ext cx="7884826" cy="5793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JO" sz="2800" b="1" dirty="0"/>
              <a:t>التحديات التي تواجه أمن المعلومات في المؤسسات</a:t>
            </a:r>
          </a:p>
          <a:p>
            <a:pPr algn="r" rtl="1">
              <a:lnSpc>
                <a:spcPct val="150000"/>
              </a:lnSpc>
            </a:pPr>
            <a:r>
              <a:rPr lang="ar-JO" sz="2800" b="1" dirty="0"/>
              <a:t>==============================</a:t>
            </a:r>
          </a:p>
          <a:p>
            <a:pPr algn="r" rtl="1">
              <a:lnSpc>
                <a:spcPct val="150000"/>
              </a:lnSpc>
            </a:pPr>
            <a:r>
              <a:rPr lang="ar-JO" sz="2200" dirty="0"/>
              <a:t>يتناول هذا القسم أبرز الصعوبات التي تعيق تطبيق أنظمة الأمن، مثل: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100" dirty="0"/>
              <a:t>ضعف الوعي الأمني لدى الموظفين مما يؤدي إلى أخطاء بشرية.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100" dirty="0"/>
              <a:t>نقص التمويل المخصص لتقنيات الحماية الحديثة.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100" dirty="0"/>
              <a:t>تطور أساليب الهجمات الإلكترونية بسرعة تجعل من الصعب مواكبتها.</a:t>
            </a:r>
          </a:p>
          <a:p>
            <a:pPr marL="800100" lvl="1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JO" sz="2100" dirty="0"/>
              <a:t>ضعف التنسيق بين الأقسام داخل المؤسسة (مثل تكنولوجيا المعلومات والإدارة).</a:t>
            </a:r>
            <a:br>
              <a:rPr lang="ar-JO" sz="2000" dirty="0"/>
            </a:br>
            <a:endParaRPr lang="ar-JO" sz="2000" dirty="0"/>
          </a:p>
          <a:p>
            <a:pPr lvl="1" algn="r" rtl="1">
              <a:lnSpc>
                <a:spcPct val="150000"/>
              </a:lnSpc>
            </a:pPr>
            <a:r>
              <a:rPr lang="ar-JO" sz="2000" b="1" dirty="0"/>
              <a:t>حيث أن نجاح الحماية يعتمد على الجانب البشري والإداري بقدر الجانب التقني.</a:t>
            </a:r>
          </a:p>
          <a:p>
            <a:pPr lvl="1" algn="r" rtl="1">
              <a:lnSpc>
                <a:spcPct val="150000"/>
              </a:lnSpc>
            </a:pPr>
            <a:endParaRPr lang="ar-JO" sz="2200" dirty="0"/>
          </a:p>
        </p:txBody>
      </p:sp>
    </p:spTree>
    <p:extLst>
      <p:ext uri="{BB962C8B-B14F-4D97-AF65-F5344CB8AC3E}">
        <p14:creationId xmlns:p14="http://schemas.microsoft.com/office/powerpoint/2010/main" val="2008968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647" y="805802"/>
            <a:ext cx="8004746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ar-JO" sz="2800" b="1" dirty="0"/>
              <a:t>استراتيجيات مواجهة التحديات</a:t>
            </a:r>
          </a:p>
          <a:p>
            <a:pPr algn="r" rtl="1">
              <a:lnSpc>
                <a:spcPct val="200000"/>
              </a:lnSpc>
            </a:pPr>
            <a:r>
              <a:rPr lang="ar-JO" sz="2800" b="1" dirty="0"/>
              <a:t>=====================</a:t>
            </a:r>
          </a:p>
          <a:p>
            <a:pPr algn="r" rtl="1">
              <a:lnSpc>
                <a:spcPct val="200000"/>
              </a:lnSpc>
            </a:pPr>
            <a:r>
              <a:rPr lang="ar-JO" sz="2200" dirty="0"/>
              <a:t>يقدّم الكتاب حلولًا عملية للتغلب على هذه التحديات، منها:</a:t>
            </a:r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100" dirty="0"/>
              <a:t>وضع سياسات أمنية مرنة ومحدثة بشكل دوري.</a:t>
            </a:r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100" dirty="0"/>
              <a:t>تدريب الموظفين باستمرار على أحدث أساليب الحماية.</a:t>
            </a:r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100" dirty="0"/>
              <a:t>استخدام تقنيات مراقبة وتحليل ذكية لاكتشاف الاختراقات مبكرًا.</a:t>
            </a:r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r>
              <a:rPr lang="ar-JO" sz="2100" dirty="0"/>
              <a:t>بناء ثقافة أمنية داخل المؤسسة تجعل الأمن مسؤولية جماعية.</a:t>
            </a:r>
          </a:p>
          <a:p>
            <a:pPr marL="457200" indent="-457200" algn="r" rtl="1">
              <a:lnSpc>
                <a:spcPct val="200000"/>
              </a:lnSpc>
              <a:buFont typeface="+mj-lt"/>
              <a:buAutoNum type="arabicPeriod"/>
            </a:pPr>
            <a:endParaRPr lang="ar-JO" sz="2100" dirty="0"/>
          </a:p>
        </p:txBody>
      </p:sp>
    </p:spTree>
    <p:extLst>
      <p:ext uri="{BB962C8B-B14F-4D97-AF65-F5344CB8AC3E}">
        <p14:creationId xmlns:p14="http://schemas.microsoft.com/office/powerpoint/2010/main" val="4284906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4539" y="547382"/>
            <a:ext cx="794478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JO" sz="3200" b="1" dirty="0"/>
              <a:t>دراسات حالة من مؤسسات واقعية</a:t>
            </a:r>
          </a:p>
          <a:p>
            <a:pPr algn="r" rtl="1">
              <a:lnSpc>
                <a:spcPct val="150000"/>
              </a:lnSpc>
            </a:pPr>
            <a:r>
              <a:rPr lang="ar-JO" sz="3200" b="1" dirty="0"/>
              <a:t>===================</a:t>
            </a:r>
          </a:p>
          <a:p>
            <a:pPr algn="r" rtl="1">
              <a:lnSpc>
                <a:spcPct val="200000"/>
              </a:lnSpc>
            </a:pPr>
            <a:r>
              <a:rPr lang="ar-JO" sz="2400" dirty="0"/>
              <a:t>يستعرض هذا القسم </a:t>
            </a:r>
            <a:r>
              <a:rPr lang="ar-JO" sz="2400" b="1" dirty="0"/>
              <a:t>نماذج لمؤسسات</a:t>
            </a:r>
            <a:r>
              <a:rPr lang="ar-JO" sz="2400" dirty="0"/>
              <a:t> نجحت أو فشلت في إدارة أمن المعلومات: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000" dirty="0"/>
              <a:t>مثال على النجاح: مؤسسة قامت بتطبيق نظام مراقبة شامل، فتمكّنت من اكتشاف محاولة اختراق مبكرًا ومنعها.</a:t>
            </a:r>
          </a:p>
          <a:p>
            <a:pPr marL="800100" lvl="1" indent="-34290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000" dirty="0"/>
              <a:t>مثال على الفشل: شركة فقدت بيانات حساسة بسبب ضعف في النسخ الاحتياطي وعدم تدريب الموظفين.</a:t>
            </a:r>
          </a:p>
          <a:p>
            <a:pPr lvl="1" algn="r" rtl="1"/>
            <a:endParaRPr lang="ar-JO" sz="2400" dirty="0"/>
          </a:p>
          <a:p>
            <a:pPr marL="0" lvl="1" algn="ctr" rtl="1">
              <a:lnSpc>
                <a:spcPct val="150000"/>
              </a:lnSpc>
            </a:pPr>
            <a:r>
              <a:rPr lang="ar-JO" sz="2000" b="1" dirty="0"/>
              <a:t>الهدف من هذه الحالات هو استخلاص الدروس والعبر من تجارب سابقة.</a:t>
            </a:r>
          </a:p>
          <a:p>
            <a:pPr marL="0" lvl="1" algn="ctr" rtl="1">
              <a:lnSpc>
                <a:spcPct val="150000"/>
              </a:lnSpc>
            </a:pPr>
            <a:endParaRPr lang="ar-JO" sz="2000" b="1" dirty="0"/>
          </a:p>
        </p:txBody>
      </p:sp>
    </p:spTree>
    <p:extLst>
      <p:ext uri="{BB962C8B-B14F-4D97-AF65-F5344CB8AC3E}">
        <p14:creationId xmlns:p14="http://schemas.microsoft.com/office/powerpoint/2010/main" val="564595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4734" y="948526"/>
            <a:ext cx="821460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JO" sz="28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مستقبل أمن المعلومات في المؤسسات</a:t>
            </a:r>
          </a:p>
          <a:p>
            <a:pPr algn="r" rtl="1">
              <a:lnSpc>
                <a:spcPct val="150000"/>
              </a:lnSpc>
            </a:pPr>
            <a:r>
              <a:rPr lang="ar-JO" sz="28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=====================</a:t>
            </a:r>
          </a:p>
          <a:p>
            <a:pPr algn="r" rtl="1">
              <a:lnSpc>
                <a:spcPct val="200000"/>
              </a:lnSpc>
            </a:pPr>
            <a:r>
              <a:rPr lang="ar-JO" sz="2200" dirty="0"/>
              <a:t>أن أمن المعلومات لم يعد خيارًا بل </a:t>
            </a:r>
            <a:r>
              <a:rPr lang="ar-JO" sz="2200" b="1" dirty="0"/>
              <a:t>ضرورة استراتيجية</a:t>
            </a:r>
            <a:r>
              <a:rPr lang="ar-JO" sz="2200" dirty="0"/>
              <a:t>، ويتحدث عن الاتجاهات الحديثة مثل:</a:t>
            </a:r>
          </a:p>
          <a:p>
            <a:pPr marL="800100" lvl="1" indent="-34290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JO" sz="2400" dirty="0"/>
              <a:t>الذكاء الاصطناعي في اكتشاف التهديدات.</a:t>
            </a:r>
          </a:p>
          <a:p>
            <a:pPr marL="800100" lvl="1" indent="-34290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JO" sz="2400" dirty="0"/>
              <a:t>الحوسبة السحابية الآمنة.</a:t>
            </a:r>
          </a:p>
          <a:p>
            <a:pPr marL="800100" lvl="1" indent="-34290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JO" sz="2400" dirty="0"/>
              <a:t>التحول نحو الأمن </a:t>
            </a:r>
            <a:r>
              <a:rPr lang="ar-JO" sz="2400" dirty="0" err="1"/>
              <a:t>الاستباقي</a:t>
            </a:r>
            <a:r>
              <a:rPr lang="ar-JO" sz="2400" dirty="0"/>
              <a:t> </a:t>
            </a:r>
            <a:r>
              <a:rPr lang="en-US" sz="2400" dirty="0"/>
              <a:t>proactive security </a:t>
            </a:r>
            <a:r>
              <a:rPr lang="ar-JO" sz="2400" dirty="0"/>
              <a:t> بدلًا من الأمن التفاعلي.</a:t>
            </a:r>
            <a:br>
              <a:rPr lang="ar-JO" sz="2400" dirty="0"/>
            </a:br>
            <a:r>
              <a:rPr lang="ar-JO" sz="2200" b="1" dirty="0"/>
              <a:t>ويشدد على أهمية تحديث الخطط الأمنية باستمرار لمواكبة التغيرات التقنية.</a:t>
            </a:r>
          </a:p>
          <a:p>
            <a:pPr lvl="1" algn="r" rtl="1">
              <a:lnSpc>
                <a:spcPct val="200000"/>
              </a:lnSpc>
            </a:pPr>
            <a:endParaRPr lang="ar-JO" sz="2200" b="1" dirty="0"/>
          </a:p>
        </p:txBody>
      </p:sp>
    </p:spTree>
    <p:extLst>
      <p:ext uri="{BB962C8B-B14F-4D97-AF65-F5344CB8AC3E}">
        <p14:creationId xmlns:p14="http://schemas.microsoft.com/office/powerpoint/2010/main" val="3515812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JO" dirty="0"/>
              <a:t>المراحل الأربع لأمن المعلومات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006" y="2326505"/>
            <a:ext cx="8373347" cy="4074294"/>
          </a:xfrm>
        </p:spPr>
        <p:txBody>
          <a:bodyPr>
            <a:normAutofit/>
          </a:bodyPr>
          <a:lstStyle/>
          <a:p>
            <a:pPr algn="just" rtl="1">
              <a:lnSpc>
                <a:spcPct val="150000"/>
              </a:lnSpc>
            </a:pPr>
            <a:r>
              <a:rPr lang="ar-JO" dirty="0"/>
              <a:t>أمن الأجهزة.</a:t>
            </a:r>
          </a:p>
          <a:p>
            <a:pPr lvl="1" algn="r" rtl="1">
              <a:lnSpc>
                <a:spcPct val="150000"/>
              </a:lnSpc>
            </a:pPr>
            <a:r>
              <a:rPr lang="ar-JO" dirty="0"/>
              <a:t>يركّز على حماية المعدات المادية من الأعطال أو السرقة أو التلف.</a:t>
            </a:r>
          </a:p>
          <a:p>
            <a:pPr lvl="1" algn="r" rtl="1">
              <a:lnSpc>
                <a:spcPct val="150000"/>
              </a:lnSpc>
            </a:pPr>
            <a:r>
              <a:rPr lang="ar-JO" dirty="0"/>
              <a:t>يُعدّ الأساس الأول لضمان سلامة النظام المعلوماتي.</a:t>
            </a:r>
          </a:p>
          <a:p>
            <a:pPr algn="just" rtl="1">
              <a:lnSpc>
                <a:spcPct val="150000"/>
              </a:lnSpc>
            </a:pPr>
            <a:r>
              <a:rPr lang="ar-JO" dirty="0"/>
              <a:t>أمن الحاسوب.</a:t>
            </a:r>
          </a:p>
          <a:p>
            <a:pPr lvl="1" algn="r" rtl="1">
              <a:lnSpc>
                <a:spcPct val="160000"/>
              </a:lnSpc>
            </a:pPr>
            <a:r>
              <a:rPr lang="ar-JO" dirty="0"/>
              <a:t>يهتم بحماية أنظمة التشغيل والبرامج من الفيروسات والهجمات.</a:t>
            </a:r>
          </a:p>
          <a:p>
            <a:pPr lvl="1" algn="r" rtl="1">
              <a:lnSpc>
                <a:spcPct val="160000"/>
              </a:lnSpc>
            </a:pPr>
            <a:r>
              <a:rPr lang="ar-JO" dirty="0"/>
              <a:t>يضمن استمرار عمل الحواسيب بكفاءة وأمان.</a:t>
            </a:r>
          </a:p>
          <a:p>
            <a:pPr lvl="1" algn="r" rtl="1">
              <a:lnSpc>
                <a:spcPct val="160000"/>
              </a:lnSpc>
            </a:pPr>
            <a:endParaRPr lang="ar-JO" dirty="0"/>
          </a:p>
          <a:p>
            <a:pPr marL="457200" lvl="1" indent="0" algn="r" rtl="1">
              <a:lnSpc>
                <a:spcPct val="160000"/>
              </a:lnSpc>
              <a:buNone/>
            </a:pPr>
            <a:endParaRPr lang="ar-JO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JO" dirty="0"/>
              <a:t>المراحل الأربع لأمن المعلومات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632" y="2490135"/>
            <a:ext cx="8383604" cy="3444997"/>
          </a:xfrm>
        </p:spPr>
        <p:txBody>
          <a:bodyPr>
            <a:normAutofit lnSpcReduction="10000"/>
          </a:bodyPr>
          <a:lstStyle/>
          <a:p>
            <a:pPr algn="just" rtl="1"/>
            <a:r>
              <a:rPr lang="ar-JO" dirty="0"/>
              <a:t>أمن البيانات.</a:t>
            </a:r>
          </a:p>
          <a:p>
            <a:pPr lvl="1" algn="r" rtl="1">
              <a:lnSpc>
                <a:spcPct val="150000"/>
              </a:lnSpc>
            </a:pPr>
            <a:r>
              <a:rPr lang="ar-JO" dirty="0"/>
              <a:t>يهدف إلى حماية البيانات أثناء التخزين أو النقل من التعديل أو الضياع.</a:t>
            </a:r>
          </a:p>
          <a:p>
            <a:pPr lvl="1" algn="r" rtl="1">
              <a:lnSpc>
                <a:spcPct val="150000"/>
              </a:lnSpc>
            </a:pPr>
            <a:r>
              <a:rPr lang="ar-JO" dirty="0"/>
              <a:t>يركّز على سلامة ودقة المعلومات المتبادلة.</a:t>
            </a:r>
          </a:p>
          <a:p>
            <a:pPr algn="just" rtl="1"/>
            <a:r>
              <a:rPr lang="ar-JO" dirty="0"/>
              <a:t>أمن المعلومات.</a:t>
            </a:r>
          </a:p>
          <a:p>
            <a:pPr lvl="1" algn="r" rtl="1">
              <a:lnSpc>
                <a:spcPct val="160000"/>
              </a:lnSpc>
            </a:pPr>
            <a:r>
              <a:rPr lang="ar-JO" dirty="0"/>
              <a:t>يتعامل مع حماية المحتوى نفسه بغضّ النظر عن مكان تخزينه.</a:t>
            </a:r>
          </a:p>
          <a:p>
            <a:pPr lvl="1" algn="r" rtl="1">
              <a:lnSpc>
                <a:spcPct val="160000"/>
              </a:lnSpc>
            </a:pPr>
            <a:r>
              <a:rPr lang="ar-JO" dirty="0"/>
              <a:t>يشمل الجوانب التقنية والبشرية والتنظيمية للحفاظ على السرية والسلامة.</a:t>
            </a:r>
          </a:p>
          <a:p>
            <a:pPr marL="457200" lvl="1" indent="0" algn="r" rtl="1">
              <a:lnSpc>
                <a:spcPct val="160000"/>
              </a:lnSpc>
              <a:buNone/>
            </a:pPr>
            <a:endParaRPr lang="ar-JO" dirty="0"/>
          </a:p>
          <a:p>
            <a:pPr lvl="1" algn="r" rtl="1">
              <a:lnSpc>
                <a:spcPct val="160000"/>
              </a:lnSpc>
            </a:pPr>
            <a:endParaRPr lang="ar-JO" dirty="0"/>
          </a:p>
          <a:p>
            <a:pPr algn="just" rtl="1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4314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t>الخاتمة</a:t>
            </a:r>
          </a:p>
        </p:txBody>
      </p:sp>
      <p:sp>
        <p:nvSpPr>
          <p:cNvPr id="4" name="Rectangle 3"/>
          <p:cNvSpPr/>
          <p:nvPr/>
        </p:nvSpPr>
        <p:spPr>
          <a:xfrm>
            <a:off x="719528" y="2773840"/>
            <a:ext cx="71203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800" dirty="0"/>
              <a:t>أمن المعلومات مسؤولية جماعية.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800" dirty="0"/>
              <a:t>الإدارة الواعية أساس نجاح أي نظام أمني.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ar-JO" sz="2800" dirty="0"/>
              <a:t>التطوير المستمر ضرورة لمواكبة التغيرات.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177</TotalTime>
  <Words>904</Words>
  <Application>Microsoft Office PowerPoint</Application>
  <PresentationFormat>On-screen Show (4:3)</PresentationFormat>
  <Paragraphs>129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Organic</vt:lpstr>
      <vt:lpstr>أمن المعلومات في المؤسسة الفصل الثاني</vt:lpstr>
      <vt:lpstr>أمن المعلومات</vt:lpstr>
      <vt:lpstr>تعريفات عالمية لأمن المعلومات </vt:lpstr>
      <vt:lpstr>أبعاد أمن المعلومات</vt:lpstr>
      <vt:lpstr>PowerPoint Presentation</vt:lpstr>
      <vt:lpstr>PowerPoint Presentation</vt:lpstr>
      <vt:lpstr> أهداف أمن المعلومات</vt:lpstr>
      <vt:lpstr> الفرق بين الأمن المادي وأمن المعلومات </vt:lpstr>
      <vt:lpstr>أهمية إدارة أمن المعلومات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المراحل الأربع لأمن المعلومات</vt:lpstr>
      <vt:lpstr>المراحل الأربع لأمن المعلومات</vt:lpstr>
      <vt:lpstr>الخاتمة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أمن المعلومات في المؤسسة</dc:title>
  <dc:subject/>
  <dc:creator>Magic Systems</dc:creator>
  <cp:keywords/>
  <dc:description>generated using python-pptx</dc:description>
  <cp:lastModifiedBy>Magic Systems</cp:lastModifiedBy>
  <cp:revision>53</cp:revision>
  <dcterms:created xsi:type="dcterms:W3CDTF">2013-01-27T09:14:16Z</dcterms:created>
  <dcterms:modified xsi:type="dcterms:W3CDTF">2025-12-30T17:38:41Z</dcterms:modified>
  <cp:category/>
</cp:coreProperties>
</file>